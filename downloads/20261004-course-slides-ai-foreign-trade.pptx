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98448"/>
            <a:ext cx="566928" cy="68580"/>
          </a:xfrm>
          <a:prstGeom prst="rect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佛山 · 2026.10.4 · 线下课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外贸 × AI：有结果，才算数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一堂只教「做出来 · 对得上 · 讲得出」的获客系统课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DB8BE"/>
                </a:solidFill>
                <a:latin typeface="微软雅黑"/>
                <a:ea typeface="微软雅黑"/>
                <a:cs typeface="微软雅黑"/>
              </a:rPr>
              <a:t>一个真实工厂的 24 天实录：从手写开发信到一套带测试、有闸门的客户开发系统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可展示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4160520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可归因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160520"/>
            <a:ext cx="1417320" cy="47548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可复述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DB8BE"/>
                </a:solidFill>
                <a:latin typeface="微软雅黑"/>
                <a:ea typeface="微软雅黑"/>
                <a:cs typeface="微软雅黑"/>
              </a:rPr>
              <a:t>判定标准全公开——今天讲的每个方法、你课后交的每样东西，都按这三条验收。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主讲：查雪连（Nicole） · 金骅智能科技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你的外贸日常，是不是也这样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手写开发信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一封 40 分钟，回复率没台账，写得好不好全凭感觉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1481328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退信没人管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硬退名单越积越脏，还在往死邮箱里发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57016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跟进纯催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just following up 发三轮，客户凭什么理你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3557016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报价翻 Excel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型号、价格、功率对不齐，报错一次丢一个客户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这不是努力问题，是系统问题。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RULER · 判定标准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什么才算「有结果」：三原则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可展示 SHOW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做出来的东西能打开、能给人看。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DB8BE"/>
                </a:solidFill>
                <a:latin typeface="微软雅黑"/>
                <a:ea typeface="微软雅黑"/>
                <a:cs typeface="微软雅黑"/>
              </a:rPr>
              <a:t>一个独立站页面 / 一封客户回复 / 一张询盘截图。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8536" y="1572768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可归因 TRACE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结果能对到台账与记录，不靠「感觉」。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DB8BE"/>
                </a:solidFill>
                <a:latin typeface="微软雅黑"/>
                <a:ea typeface="微软雅黑"/>
                <a:cs typeface="微软雅黑"/>
              </a:rPr>
              <a:t>哪一步带来什么，翻记录就能对上。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572768"/>
            <a:ext cx="3602736" cy="324612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可复述 RETELL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方法能自己讲出来，别人照做能走通。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DB8BE"/>
                </a:solidFill>
                <a:latin typeface="微软雅黑"/>
                <a:ea typeface="微软雅黑"/>
                <a:cs typeface="微软雅黑"/>
              </a:rPr>
              <a:t>讲不清，就还不是你的。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9DB8BE"/>
                </a:solidFill>
                <a:latin typeface="微软雅黑"/>
                <a:ea typeface="微软雅黑"/>
                <a:cs typeface="微软雅黑"/>
              </a:rPr>
              <a:t>今天这堂课，每个环节都按这三条验收——包括你课后要交的东西。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先看一个「有结果」的样本：24 天实录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10515600" cy="27432"/>
          </a:xfrm>
          <a:prstGeom prst="rect">
            <a:avLst/>
          </a:prstGeom>
          <a:solidFill>
            <a:srgbClr val="D7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73936" y="2075688"/>
            <a:ext cx="749808" cy="74980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定名立项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两条铁律先行：永不群发、人工把关</a:t>
            </a:r>
          </a:p>
        </p:txBody>
      </p:sp>
      <p:sp>
        <p:nvSpPr>
          <p:cNvPr id="7" name="Oval 6"/>
          <p:cNvSpPr/>
          <p:nvPr/>
        </p:nvSpPr>
        <p:spPr>
          <a:xfrm>
            <a:off x="4626864" y="2075688"/>
            <a:ext cx="749808" cy="74980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8" y="28803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恢复验证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52 项单测 + 29 项端到端全绿</a:t>
            </a:r>
          </a:p>
        </p:txBody>
      </p:sp>
      <p:sp>
        <p:nvSpPr>
          <p:cNvPr id="9" name="Oval 8"/>
          <p:cNvSpPr/>
          <p:nvPr/>
        </p:nvSpPr>
        <p:spPr>
          <a:xfrm>
            <a:off x="7479792" y="2075688"/>
            <a:ext cx="749808" cy="74980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8803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四大模块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看板 / 定时发信 / 背调 / 拓客</a:t>
            </a:r>
          </a:p>
        </p:txBody>
      </p:sp>
      <p:sp>
        <p:nvSpPr>
          <p:cNvPr id="11" name="Oval 10"/>
          <p:cNvSpPr/>
          <p:nvPr/>
        </p:nvSpPr>
        <p:spPr>
          <a:xfrm>
            <a:off x="10332720" y="2075688"/>
            <a:ext cx="749808" cy="749808"/>
          </a:xfrm>
          <a:prstGeom prst="ellipse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1744" y="28803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流程上板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9 步流程上图，AI 与人分工标注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09160"/>
            <a:ext cx="11091672" cy="11430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起点和教室里大多数人一样：全手写、无台账、无闸门。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差别只有一条——每一步都留了痕。这就是「可归因」。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RULER ① · 可归因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数字不说谎：每个数都能对到底册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80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从立项到流程上板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416" y="1783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115</a:t>
            </a:r>
            <a:r>
              <a:rPr sz="180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 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8416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自动化测试全部通过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1783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16</a:t>
            </a:r>
            <a:r>
              <a:rPr sz="180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 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8192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客户全量进看板管理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7830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180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 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铁律写进系统与合同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数据截至 2026-09-25，出自项目交付与验证记录（演示环境本机运行）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11091672" cy="105156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「感觉变好了」不算结果；翻得出来的台账才算。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RULER ② · 可展示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眼见为实：现场打开给你看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写开发信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选一个型号 → 生成带知识库标注的初稿（真 LLM 模式）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1481328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客户看板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6 阶段泳道，16 个客户一屏看清，流程步+责任人标注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57016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预检闸门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退信名单里的地址发出去——现场被系统 422 拦下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3557016"/>
            <a:ext cx="5440680" cy="1874519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台账留痕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每一封发送状态可追溯，活动记录随卡片可查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界面底部常驻一行字：永不自动群发 · 本机运行 —— 纪律长在产品里。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RULER ③ · 可复述 · 方法一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首封开发信：客户的处境 + 一个可验证的具体物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说客户的事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查证过的具体内容，不是「我们是谁」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86783" y="2148840"/>
            <a:ext cx="274320" cy="384048"/>
          </a:xfrm>
          <a:prstGeom prst="rightArrow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15968" y="1481328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给具体物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价格 / 型号 / 对照表，不索要任何东西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54112" y="2148840"/>
            <a:ext cx="274320" cy="384048"/>
          </a:xfrm>
          <a:prstGeom prst="rightArrow">
            <a:avLst/>
          </a:prstGeom>
          <a:solidFill>
            <a:srgbClr val="E36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83296" y="1481328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零门槛收尾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「不对口回复 not for us 就好」，反而有回复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真实例句（客户信息已脱敏）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“Noticed your compact kitchen line — our double-burner platform: 3400–3500W, from USD 33.20 (1,000 pcs), CE certified.”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三段总长 ≤ 120 词 · 数字全部可对底册 · 型号-价格-功率三对齐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RULER ③ · 可复述 · 方法二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跟进铁律：0 新信息，不发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3602736" cy="17830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FU1 · 第 3 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带一个新事实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对比表 / 装箱量 / 对方市场的认证细节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8536" y="1481328"/>
            <a:ext cx="3602736" cy="17830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FU2 · 第 7 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带一个新选择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替代型号 / 阶梯价下一档 / 改包装降本数字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81328"/>
            <a:ext cx="3602736" cy="17830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FU3 · 第 14 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关门 + 留门把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「不再打扰，有需要随时找我」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11091672" cy="1554480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新信息库（起草时从这挑）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装柜经济账：整柜装多少台，单台海运摊薄 ｜ 同品类对照价：单灶 vs 双灶的成本账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认证细节：欧线在意的 ErP 关机功耗实测值 ｜ OEM 规则价：logo / 彩盒 / 改色的加价口径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客户原词回应：上一封信里他提过的词（最强）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红线：数字先对底册，没确认过的事不写。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RULER · 底线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两条铁律写进系统，也写进合同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5440680" cy="192024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永不自动群发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系统没有群发按钮。每一封都从人工点下发送开始。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1572768"/>
            <a:ext cx="5440680" cy="192024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每封人工把关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发送前预检闸门：硬退名单、无效域名，系统直接拦下。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86200"/>
            <a:ext cx="11091672" cy="173736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这是我们与市面群发工具的分界线：慢一点，但发出去的每一封都代表你。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真实代价：曾有一次冒烟测试误发 3 封邮件——教训直接变成了今天的硬闸门（失败也是资产）。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DIVISION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AI 干重复，人做决定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440680" cy="4160520"/>
          </a:xfrm>
          <a:prstGeom prst="roundRect">
            <a:avLst>
              <a:gd name="adj" fmla="val 10000"/>
            </a:avLst>
          </a:prstGeom>
          <a:solidFill>
            <a:srgbClr val="E8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0F4C5C"/>
                </a:solidFill>
                <a:latin typeface="微软雅黑"/>
                <a:ea typeface="微软雅黑"/>
                <a:cs typeface="微软雅黑"/>
              </a:rPr>
              <a:t>AI 负责（重复劳动）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起草开发信与询盘回复初稿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客户台账与活动留痕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发送前预检与退信拦截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客户官网背调摘要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拓客候选的初筛去重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1481328"/>
            <a:ext cx="5440680" cy="416052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人负责（判断与拍板）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审稿：初稿改到能代表自己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发送：每一封亲手点出去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定价：底册在手，折扣自己定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关系：谈判、承诺、维护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· 拍板：上什么新功能，人说了算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老板不是被 AI 替代，是被 AI 解放出时间，去做只有人能做的事。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今天课后，只做一件事：拿出你的「三样证据」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44752"/>
            <a:ext cx="3602736" cy="18288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可展示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一封能打开的开发信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处境 + 具体物公式，≤120 词，能给人看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8536" y="1444752"/>
            <a:ext cx="3602736" cy="18288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可归因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一条能对账的记录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发给谁、何时、凭什么写——进你自己的台账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44752"/>
            <a:ext cx="3602736" cy="18288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可复述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一遍能讲出的方法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60 秒把公式讲给同桌，讲不清就再改一稿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怎么做：① 选一个真实客户　② 查他一条具体事实　③ 套三段式 ≤120 词　④ 发前跑收件人自查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1091672" cy="141732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E33"/>
                </a:solidFill>
                <a:latin typeface="微软雅黑"/>
                <a:ea typeface="微软雅黑"/>
                <a:cs typeface="微软雅黑"/>
              </a:rPr>
              <a:t>想继续往下走：线上课 → 年度陪跑营 → 企业 FDE 陪跑（今天课后一对一详询）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7278"/>
                </a:solidFill>
                <a:latin typeface="微软雅黑"/>
                <a:ea typeface="微软雅黑"/>
                <a:cs typeface="微软雅黑"/>
              </a:rPr>
              <a:t>随课件发放：开发信模板精简卡（含三类客户模板 + 跟进三封 + 发送前清单）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Harry 能在 24 天做出来的系统，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你的公司也可以。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36414"/>
                </a:solidFill>
                <a:latin typeface="微软雅黑"/>
                <a:ea typeface="微软雅黑"/>
                <a:cs typeface="微软雅黑"/>
              </a:rPr>
              <a:t>区别只是有没有人陪你把每一步走完。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DB8BE"/>
                </a:solidFill>
                <a:latin typeface="微软雅黑"/>
                <a:ea typeface="微软雅黑"/>
                <a:cs typeface="微软雅黑"/>
              </a:rPr>
              <a:t>可展示 · 可归因 · 可复述 —— 从今天这封信开始。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EEF3F4"/>
                </a:solidFill>
                <a:latin typeface="微软雅黑"/>
                <a:ea typeface="微软雅黑"/>
                <a:cs typeface="微软雅黑"/>
              </a:rPr>
              <a:t>查雪连（Nicole） · 金骅智能科技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